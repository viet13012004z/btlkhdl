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8" r:id="rId8"/>
    <p:sldId id="261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227A8-61F6-4442-9346-B5336F0AB7A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3A7BE-6EF8-416E-AE36-0CD7CF10C24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227A8-61F6-4442-9346-B5336F0AB7A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3A7BE-6EF8-416E-AE36-0CD7CF10C24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227A8-61F6-4442-9346-B5336F0AB7A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3A7BE-6EF8-416E-AE36-0CD7CF10C24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227A8-61F6-4442-9346-B5336F0AB7A2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3A7BE-6EF8-416E-AE36-0CD7CF10C24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227A8-61F6-4442-9346-B5336F0AB7A2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3A7BE-6EF8-416E-AE36-0CD7CF10C24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227A8-61F6-4442-9346-B5336F0AB7A2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3A7BE-6EF8-416E-AE36-0CD7CF10C24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227A8-61F6-4442-9346-B5336F0AB7A2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3A7BE-6EF8-416E-AE36-0CD7CF10C24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227A8-61F6-4442-9346-B5336F0AB7A2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3A7BE-6EF8-416E-AE36-0CD7CF10C24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227A8-61F6-4442-9346-B5336F0AB7A2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3A7BE-6EF8-416E-AE36-0CD7CF10C24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227A8-61F6-4442-9346-B5336F0AB7A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3A7BE-6EF8-416E-AE36-0CD7CF10C24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227A8-61F6-4442-9346-B5336F0AB7A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3A7BE-6EF8-416E-AE36-0CD7CF10C24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E227A8-61F6-4442-9346-B5336F0AB7A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93A7BE-6EF8-416E-AE36-0CD7CF10C24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5510" y="406400"/>
            <a:ext cx="9144000" cy="2387600"/>
          </a:xfrm>
        </p:spPr>
        <p:txBody>
          <a:bodyPr/>
          <a:lstStyle/>
          <a:p>
            <a:r>
              <a:rPr lang="vi-VN" dirty="0"/>
              <a:t>Xây dựng ứng dụng phân loại tin tức giả mạo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vi-VN" dirty="0"/>
              <a:t>Họ và tên: Nguyễn Hoàng Việt</a:t>
            </a:r>
            <a:endParaRPr lang="vi-VN" dirty="0"/>
          </a:p>
          <a:p>
            <a:pPr algn="l"/>
            <a:r>
              <a:rPr lang="vi-VN" dirty="0"/>
              <a:t>Lớp: K58KTP</a:t>
            </a:r>
            <a:endParaRPr lang="vi-VN" dirty="0"/>
          </a:p>
          <a:p>
            <a:pPr algn="l"/>
            <a:r>
              <a:rPr lang="vi-VN" dirty="0"/>
              <a:t>MSSV: K225480106074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Giới thiệu đề tài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>
                <a:latin typeface="+mj-lt"/>
              </a:rPr>
              <a:t>Lý do chọn đề tài: tin giả hiện nay vô cùng tinh vi, gây hoang mang dư luận. </a:t>
            </a:r>
            <a:endParaRPr lang="vi-VN" dirty="0">
              <a:latin typeface="+mj-lt"/>
            </a:endParaRPr>
          </a:p>
          <a:p>
            <a:r>
              <a:rPr lang="vi-VN" dirty="0">
                <a:latin typeface="+mj-lt"/>
              </a:rPr>
              <a:t>Mục tiêu của em là tạo ra một 'lá chắn' công nghệ giúp nhận diện tin giả tự động.</a:t>
            </a:r>
            <a:endParaRPr lang="vi-VN" dirty="0">
              <a:latin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Đầu vào , đầu ra của hệ thống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vi-VN" dirty="0">
                <a:latin typeface="+mj-lt"/>
              </a:rPr>
              <a:t>Đầu vào: Là các dữ liệu văn bản thô chứa nội dung hoặc tiêu đề của 1 bài báo bằng Tiếng Anh </a:t>
            </a:r>
            <a:endParaRPr lang="vi-VN" dirty="0">
              <a:latin typeface="+mj-lt"/>
            </a:endParaRPr>
          </a:p>
          <a:p>
            <a:r>
              <a:rPr lang="vi-VN" dirty="0">
                <a:latin typeface="+mj-lt"/>
              </a:rPr>
              <a:t>Đầu ra: Là kết quả phân loại nhị phân 1 và 0 , 1 là tin giả FAKE ,0 là tin thật REAL </a:t>
            </a:r>
            <a:endParaRPr lang="vi-VN" dirty="0">
              <a:latin typeface="+mj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455" y="4095"/>
            <a:ext cx="10515600" cy="1325563"/>
          </a:xfrm>
        </p:spPr>
        <p:txBody>
          <a:bodyPr/>
          <a:lstStyle/>
          <a:p>
            <a:r>
              <a:rPr lang="vi-VN" dirty="0"/>
              <a:t>Kỹ thuật TF- IDF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2629" y="1034690"/>
            <a:ext cx="10515600" cy="4351338"/>
          </a:xfrm>
        </p:spPr>
        <p:txBody>
          <a:bodyPr/>
          <a:lstStyle/>
          <a:p>
            <a:r>
              <a:rPr lang="vi-VN" dirty="0">
                <a:latin typeface="+mj-lt"/>
              </a:rPr>
              <a:t>Định nghĩa: Term Frequency - Inverse Document Frequency.</a:t>
            </a:r>
            <a:endParaRPr lang="vi-VN" dirty="0">
              <a:latin typeface="+mj-lt"/>
            </a:endParaRPr>
          </a:p>
          <a:p>
            <a:r>
              <a:rPr lang="vi-VN" dirty="0">
                <a:latin typeface="+mj-lt"/>
              </a:rPr>
              <a:t>Mục tiêu: Chuyển đổi văn bản thô thành vector đặc trưng dựa trên tầm quan trọng của từ.</a:t>
            </a:r>
            <a:endParaRPr lang="vi-VN" dirty="0">
              <a:latin typeface="+mj-lt"/>
            </a:endParaRPr>
          </a:p>
          <a:p>
            <a:r>
              <a:rPr lang="vi-VN" dirty="0">
                <a:latin typeface="+mj-lt"/>
              </a:rPr>
              <a:t>Ý nghĩa: TF-IDF giúp loại bỏ ảnh hưởng của các từ phổ biến (như "the", "a", "is") và nhấn mạnh các từ mang tính đặc trưng cao cho nội dung tin tức.</a:t>
            </a:r>
            <a:br>
              <a:rPr lang="vi-VN" dirty="0">
                <a:latin typeface="+mj-lt"/>
              </a:rPr>
            </a:br>
            <a:endParaRPr lang="en-US" dirty="0">
              <a:latin typeface="+mj-lt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6471" y="3512010"/>
            <a:ext cx="5831758" cy="29046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Passive Aggressive Classifier (PAC)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Bản chất: Thuật toán học máy trực tuyến (Online Learning).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Cơ chế Passive (Thụ động): Nếu dự đoán đúng -&gt; Giữ nguyên mô hình để bảo toàn tri thức cũ.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Cơ chế Aggressive (Hung hăng): Nếu dự đoán sai -&gt; Thay đổi trọng số ngay lập tức để sửa lỗi.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Ứng dụng: Rất mạnh mẽ với các bài toán phân loại văn bản có dữ liệu lớn và không gian đặc trưng cao.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Sơ đồ quy trình thực hiện của hệ thống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130" r="2084" b="17612"/>
          <a:stretch>
            <a:fillRect/>
          </a:stretch>
        </p:blipFill>
        <p:spPr>
          <a:xfrm>
            <a:off x="3432710" y="1236431"/>
            <a:ext cx="4157793" cy="53806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ISOT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Nội dung: * Tổng số: 44,898 mẫu.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Tin thật: Nguồn Reuters.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Tin giả: Nguồn không xác định.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Bảng biểu: Một bảng so sánh số lượng dòng của file True.csv và Fake.csv (khoảng 21k và 23k dòng).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555" y="254255"/>
            <a:ext cx="10515600" cy="1325563"/>
          </a:xfrm>
        </p:spPr>
        <p:txBody>
          <a:bodyPr/>
          <a:lstStyle/>
          <a:p>
            <a:r>
              <a:rPr lang="vi-VN" dirty="0"/>
              <a:t>Lỗi hiện tại và hạn chế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1555" y="1579818"/>
            <a:ext cx="10515600" cy="4351338"/>
          </a:xfrm>
        </p:spPr>
        <p:txBody>
          <a:bodyPr/>
          <a:lstStyle/>
          <a:p>
            <a:r>
              <a:rPr lang="vi-VN" dirty="0">
                <a:latin typeface="+mj-lt"/>
              </a:rPr>
              <a:t>Trường hợp dự đoán sai thực tế</a:t>
            </a:r>
            <a:endParaRPr lang="vi-VN" dirty="0">
              <a:latin typeface="+mj-lt"/>
            </a:endParaRPr>
          </a:p>
          <a:p>
            <a:r>
              <a:rPr lang="en-US" dirty="0" err="1">
                <a:latin typeface="+mj-lt"/>
              </a:rPr>
              <a:t>Lỗi</a:t>
            </a:r>
            <a:r>
              <a:rPr lang="en-US" dirty="0">
                <a:latin typeface="+mj-lt"/>
              </a:rPr>
              <a:t> do </a:t>
            </a:r>
            <a:r>
              <a:rPr lang="en-US" dirty="0" err="1">
                <a:latin typeface="+mj-lt"/>
              </a:rPr>
              <a:t>thiếu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hụt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thông</a:t>
            </a:r>
            <a:r>
              <a:rPr lang="en-US" dirty="0">
                <a:latin typeface="+mj-lt"/>
              </a:rPr>
              <a:t> tin </a:t>
            </a:r>
            <a:r>
              <a:rPr lang="en-US" dirty="0" err="1">
                <a:latin typeface="+mj-lt"/>
              </a:rPr>
              <a:t>ngữ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cảnh</a:t>
            </a:r>
            <a:endParaRPr lang="vi-VN" dirty="0">
              <a:latin typeface="+mj-lt"/>
            </a:endParaRPr>
          </a:p>
          <a:p>
            <a:pPr marL="0" indent="0">
              <a:buNone/>
            </a:pPr>
            <a:r>
              <a:rPr lang="vi-VN" dirty="0">
                <a:latin typeface="+mj-lt"/>
              </a:rPr>
              <a:t>Hạn chế: </a:t>
            </a:r>
            <a:endParaRPr lang="vi-VN" dirty="0">
              <a:latin typeface="+mj-lt"/>
            </a:endParaRPr>
          </a:p>
          <a:p>
            <a:r>
              <a:rPr lang="en-US" dirty="0" err="1">
                <a:latin typeface="+mj-lt"/>
              </a:rPr>
              <a:t>Sự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lạc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hậu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của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dữ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liệu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huấn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luyện</a:t>
            </a:r>
            <a:r>
              <a:rPr lang="en-US" dirty="0">
                <a:latin typeface="+mj-lt"/>
              </a:rPr>
              <a:t> (Concept Drift)</a:t>
            </a:r>
            <a:endParaRPr lang="vi-VN" dirty="0">
              <a:latin typeface="+mj-lt"/>
            </a:endParaRPr>
          </a:p>
          <a:p>
            <a:r>
              <a:rPr lang="en-US" dirty="0" err="1">
                <a:latin typeface="+mj-lt"/>
              </a:rPr>
              <a:t>Thiếu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hiểu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biết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về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ngữ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cảnh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và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ngữ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nghĩa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sâu</a:t>
            </a:r>
            <a:endParaRPr lang="vi-VN" dirty="0">
              <a:latin typeface="+mj-lt"/>
            </a:endParaRPr>
          </a:p>
          <a:p>
            <a:r>
              <a:rPr lang="en-US" dirty="0" err="1">
                <a:latin typeface="+mj-lt"/>
              </a:rPr>
              <a:t>Độ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nhạy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với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chiều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dài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văn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bản</a:t>
            </a:r>
            <a:endParaRPr lang="vi-VN" dirty="0">
              <a:latin typeface="+mj-lt"/>
            </a:endParaRPr>
          </a:p>
          <a:p>
            <a:r>
              <a:rPr lang="en-US" dirty="0">
                <a:latin typeface="+mj-lt"/>
              </a:rPr>
              <a:t>Rào </a:t>
            </a:r>
            <a:r>
              <a:rPr lang="en-US" dirty="0" err="1">
                <a:latin typeface="+mj-lt"/>
              </a:rPr>
              <a:t>cản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ngôn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ngữ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và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cấu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trúc</a:t>
            </a:r>
            <a:endParaRPr lang="en-US" dirty="0">
              <a:latin typeface="+mj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Kết luận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857663"/>
            <a:ext cx="9325438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Về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lý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thuyết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Làm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chủ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quy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trình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xử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lý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ngôn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ngữ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tự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nhiên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(NLP).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Hiểu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rõ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kỹ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thuật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TF-IDF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và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thuật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toán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PAC.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Về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thực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nghiệm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Huấn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luyện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mô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hình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đạt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độ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chính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xác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cao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99.52%.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Tốc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độ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xử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lý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nhanh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tối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ưu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hơn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các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thuật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toán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truyền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thống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Về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ứng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dụng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&amp;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Tư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duy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Triển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khai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thành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công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Web App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bằng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Streamlit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Nhận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diện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được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hiện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tượng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Data Drift qua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phân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tích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lỗi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thực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tế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Hướng phát triển 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9367684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Cập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nhật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dữ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liệu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Tích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hợp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Web Scraping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để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huấn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luyện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mô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hình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với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tin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tức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thời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gian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thực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Nâng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cấp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công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nghệ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Ứng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dụng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mô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hình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học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sâu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hiểu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ngữ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nghĩa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(BERT, GPT)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thay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vì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chỉ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đếm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từ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khóa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Đa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ngôn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ngữ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Phát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triển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bộ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dữ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liệu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và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trình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tách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từ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cho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tiếng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Việt.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Xác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thực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đa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tầng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*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Kết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nối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API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kiểm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chứng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sự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thật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(Fact-checking).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Nhận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diện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tin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giả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đa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phương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tiện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(Deepfake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hình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ảnh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/video).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2419</Words>
  <Application>WPS Presentation</Application>
  <PresentationFormat>Widescreen</PresentationFormat>
  <Paragraphs>70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SimSun</vt:lpstr>
      <vt:lpstr>Wingdings</vt:lpstr>
      <vt:lpstr>Times New Roman</vt:lpstr>
      <vt:lpstr>Aptos Display</vt:lpstr>
      <vt:lpstr>Segoe UI</vt:lpstr>
      <vt:lpstr>Aptos</vt:lpstr>
      <vt:lpstr>Microsoft YaHei</vt:lpstr>
      <vt:lpstr>Arial Unicode MS</vt:lpstr>
      <vt:lpstr>Calibri</vt:lpstr>
      <vt:lpstr>Office Theme</vt:lpstr>
      <vt:lpstr>Xây dựng ứng dụng phân loại tin tức giả mạo </vt:lpstr>
      <vt:lpstr>Giới thiệu đề tài </vt:lpstr>
      <vt:lpstr>Đầu vào , đầu ra của hệ thống</vt:lpstr>
      <vt:lpstr>Kỹ thuật TF- IDF </vt:lpstr>
      <vt:lpstr>Thuật toán Passive Aggressive Classifier (PAC)</vt:lpstr>
      <vt:lpstr>Sơ đồ quy trình thực hiện của hệ thống </vt:lpstr>
      <vt:lpstr>Bộ dữ liệu ISOT</vt:lpstr>
      <vt:lpstr>Lỗi hiện tại và hạn chế</vt:lpstr>
      <vt:lpstr>Kết luận</vt:lpstr>
      <vt:lpstr>Hướng phát triển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việt nguyễn hoàng</dc:creator>
  <cp:lastModifiedBy>Administrator</cp:lastModifiedBy>
  <cp:revision>3</cp:revision>
  <dcterms:created xsi:type="dcterms:W3CDTF">2026-03-17T10:39:00Z</dcterms:created>
  <dcterms:modified xsi:type="dcterms:W3CDTF">2026-06-21T04:06:55Z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092F398E569840E7B73BA84AF37BE47B_13</vt:lpwstr>
  </property>
  <property fmtid="{D5CDD505-2E9C-101B-9397-08002B2CF9AE}" pid="3" name="KSOProductBuildVer">
    <vt:lpwstr>1033-12.1.0.26880</vt:lpwstr>
  </property>
</Properties>
</file>